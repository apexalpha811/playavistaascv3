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 Income / Mo ($K)</c:v>
                </c:pt>
              </c:strCache>
            </c:strRef>
          </c:tx>
          <c:spPr>
            <a:solidFill>
              <a:srgbClr val="FF7A8A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A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6C8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6C8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6C8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6C8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 0–3</c:v>
                  </c:pt>
                  <c:pt idx="1">
                    <c:v>Mo 3–6</c:v>
                  </c:pt>
                  <c:pt idx="2">
                    <c:v>Mo 6–12</c:v>
                  </c:pt>
                  <c:pt idx="3">
                    <c:v>Mo 12–16</c:v>
                  </c:pt>
                  <c:pt idx="4">
                    <c:v>Mo 16–20</c:v>
                  </c:pt>
                  <c:pt idx="5">
                    <c:v>Mo 20–28</c:v>
                  </c:pt>
                  <c:pt idx="6">
                    <c:v>Mo 28–36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-273</c:v>
                </c:pt>
                <c:pt idx="1">
                  <c:v>-121</c:v>
                </c:pt>
                <c:pt idx="2">
                  <c:v>-47</c:v>
                </c:pt>
                <c:pt idx="3">
                  <c:v>0</c:v>
                </c:pt>
                <c:pt idx="4">
                  <c:v>212</c:v>
                </c:pt>
                <c:pt idx="5">
                  <c:v>346</c:v>
                </c:pt>
                <c:pt idx="6">
                  <c:v>522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2F5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AE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2748"/>
              </a:solidFill>
              <a:prstDash val="solid"/>
              <a:round/>
            </a:ln>
          </c:spPr>
        </c:majorGridlines>
        <c:numFmt formatCode="$#,##0&quot;K&quot;" sourceLinked="0"/>
        <c:majorTickMark val="out"/>
        <c:minorTickMark val="none"/>
        <c:tickLblPos val="nextTo"/>
        <c:spPr>
          <a:ln w="12700" cap="flat">
            <a:solidFill>
              <a:srgbClr val="342F5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AE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F"/>
        </a:solidFill>
        <a:ln>
          <a:noFill/>
        </a:ln>
        <a:effectLst/>
      </c:spPr>
    </c:plotArea>
    <c:plotVisOnly val="1"/>
    <c:dispBlanksAs val="span"/>
  </c:chart>
  <c:spPr>
    <a:solidFill>
      <a:srgbClr val="0A0A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2011680"/>
            <a:ext cx="7315200" cy="7315200"/>
          </a:xfrm>
          <a:prstGeom prst="ellipse">
            <a:avLst/>
          </a:prstGeom>
          <a:solidFill>
            <a:srgbClr val="1D00C6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90525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2026 · PLAYA VISTA, 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PLAYA VISTA </a:t>
            </a:r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ASC</a:t>
            </a:r>
            <a:pPr indent="0" marL="0">
              <a:lnSpc>
                <a:spcPct val="98000"/>
              </a:lnSpc>
              <a:buNone/>
            </a:pP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REJUVENATION CLINIC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914400" cy="54864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101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positive on the clinic alone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10+ months before the first OR ever opens.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395020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vertically integrated surgical and wellness destination — where longevity programming accelerates surgical outcomes and cash-pay wellness funds the buildout.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818888"/>
            <a:ext cx="10607040" cy="18288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83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$43B+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" y="5550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ASC market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4983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480560" y="5550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margin at stabilization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83880" y="4983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~$6.3M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183880" y="5550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operating income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(Projected · Base Case)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3949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Fragmented, Slow Standard of Care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468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6–12 wk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wait times patients endure for outpatient procedures.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53128" y="21031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2468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773168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luxury ASC + wellness facilities on the Westside today.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57616" y="21031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77656" y="2468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677656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providers patients must navigate for surgery, recovery, and wellness.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3949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 · Vision · Philosophy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67712"/>
            <a:ext cx="64008" cy="2962656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423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2862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world-class outpatient surgical care and evidence-based rejuvenation under one roof — premium healthcare made accessible, efficient, and transformative.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53128" y="21031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3128" y="2267712"/>
            <a:ext cx="64008" cy="2962656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423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3017520"/>
            <a:ext cx="2862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leading vertically integrated ambulatory surgery and longevity destination on LA's Westside — known for clinical excellence, outcomes, and innovation.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57616" y="21031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267712"/>
            <a:ext cx="64008" cy="2962656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17" name="Text 15"/>
          <p:cNvSpPr/>
          <p:nvPr/>
        </p:nvSpPr>
        <p:spPr>
          <a:xfrm>
            <a:off x="8705088" y="2423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05088" y="3017520"/>
            <a:ext cx="2862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outcomes improve when patients are optimized before procedures and supported with evidence-based recovery, regenerative, and longevity protocols afterward.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3949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NOW, WHY WESTSIDE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Opening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258568"/>
            <a:ext cx="411480" cy="45720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Unserved Westside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luxury ASC on the Westside integrates wellness into surgical care.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53128" y="196596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2258568"/>
            <a:ext cx="411480" cy="45720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Dual-Stream Unlock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73168" y="30175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Insurance-backed surgical revenue and cash-pay wellness revenue, combined under one roof.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57616" y="196596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77656" y="2258568"/>
            <a:ext cx="411480" cy="45720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77656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Cash Flow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77656" y="30175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clinic revenue starts 10+ months before OR activation — capital works while accreditation runs.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892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GEOGRAPHY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421892" cy="420624"/>
          </a:xfrm>
          <a:prstGeom prst="roundRect">
            <a:avLst>
              <a:gd name="adj" fmla="val 50000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57800"/>
            <a:ext cx="14218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199132" y="5257800"/>
            <a:ext cx="1421892" cy="420624"/>
          </a:xfrm>
          <a:prstGeom prst="roundRect">
            <a:avLst>
              <a:gd name="adj" fmla="val 50000"/>
            </a:avLst>
          </a:prstGeom>
          <a:solidFill>
            <a:srgbClr val="181133"/>
          </a:solidFill>
          <a:ln w="12700">
            <a:solidFill>
              <a:srgbClr val="1D00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9132" y="5257800"/>
            <a:ext cx="14218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Culver City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849624" y="5257800"/>
            <a:ext cx="1709928" cy="420624"/>
          </a:xfrm>
          <a:prstGeom prst="roundRect">
            <a:avLst>
              <a:gd name="adj" fmla="val 50000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9624" y="525780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del Rey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788152" y="5257800"/>
            <a:ext cx="1517904" cy="420624"/>
          </a:xfrm>
          <a:prstGeom prst="roundRect">
            <a:avLst>
              <a:gd name="adj" fmla="val 50000"/>
            </a:avLst>
          </a:prstGeom>
          <a:solidFill>
            <a:srgbClr val="181133"/>
          </a:solidFill>
          <a:ln w="12700">
            <a:solidFill>
              <a:srgbClr val="1D00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88152" y="525780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Monica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3949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PORTFOLIO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Revenue Streams · One Facility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6,000–6,500 SF in Playa Vista. Phase 1 launches at Month 3–6; Phase 2 ORs activate at Month 16.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532888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B6C8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328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 3–6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 + Aesthetics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$419K/mo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68680" y="45720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margin · cash-pay · funds the OR build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53128" y="22402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81133"/>
          </a:solidFill>
          <a:ln w="19050">
            <a:solidFill>
              <a:srgbClr val="1D00C6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2532888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1D00C6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2532888"/>
            <a:ext cx="1193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 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ASC Surgical Core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73168" y="36118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$767K/mo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773168" y="45720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margin · insurance-backed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57616" y="22402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5121E"/>
          </a:solidFill>
          <a:ln w="25400">
            <a:solidFill>
              <a:srgbClr val="B6C800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77656" y="25328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6C800"/>
          </a:solidFill>
          <a:ln/>
        </p:spPr>
      </p:sp>
      <p:sp>
        <p:nvSpPr>
          <p:cNvPr id="22" name="Text 20"/>
          <p:cNvSpPr/>
          <p:nvPr/>
        </p:nvSpPr>
        <p:spPr>
          <a:xfrm>
            <a:off x="8677656" y="25328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16+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77656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Run-Rate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77656" y="36118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$1.19M/mo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677656" y="45720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stabilization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CATEGORIES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Categories · 21 Revenue Lines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659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2037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Regenerative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PRP · Hormone/Peptide/GLP · IV Therapy (NAD+)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$162.5K/mo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53128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7448" y="19659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27448" y="22037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 &amp; Aesthetics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27448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Botox &amp; Fillers · Laser · Morpheus8 · Emsculpt · CoolSculpting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31821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$166.8K/mo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57616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31936" y="19659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31936" y="22037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1936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Hyperbaric O₂ · Compression/NeuFit · Red Light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31936" y="31821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$49.4K/mo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0233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42611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Biometrics · DNA · DUTCH · DEXA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52395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$26.5K/mo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53128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27448" y="40233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27448" y="42611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Aescape Robots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27448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robotic massage stations · 85% margin · zero physician dependency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52395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$14K/mo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57616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81133"/>
          </a:solidFill>
          <a:ln w="19050">
            <a:solidFill>
              <a:srgbClr val="1D00C6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31936" y="40233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31936" y="42611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Surgery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31936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Mgmt · Podiatry · Orthopedic · Spine (MIS)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31936" y="52395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$767K/mo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4805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PORTFOLIO — FULL DETAIL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21-Line Procedure Model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margin, and monthly gross per line — the diligence-level view behind the three-stream summary.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77240"/>
                <a:gridCol w="914400"/>
                <a:gridCol w="1325880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Gross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Aescape Massage ×2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 / NeuFit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Hyperbaric O₂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Light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AESCAPE ROBOTS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Aescape Massage ×2 (stations)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REGENERATIVE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PRP Injections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 / Peptide / GLP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Therapy (NAD+/Drips)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&amp; AESTHETICS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Botox &amp; Fillers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Morpheus8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Emsculpt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CoolSculpting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77240"/>
                <a:gridCol w="914400"/>
                <a:gridCol w="1325880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Gross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Biometrics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DUTCH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DEXA Scan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 · PHASE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Mgmt (Epidural/RFA)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Podiatry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 (Arthro/TJR)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Surgery (MIS)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— 21 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$1,186,175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17920" y="4901184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81133"/>
          </a:solidFill>
          <a:ln w="15240">
            <a:solidFill>
              <a:srgbClr val="1D00C6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46520" y="50657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SPLIT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446520" y="5358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(clinic): </a:t>
            </a:r>
            <a:pPr indent="0" marL="0">
              <a:buNone/>
            </a:pPr>
            <a:r>
              <a:rPr lang="en-US" sz="12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$419,175/mo</a:t>
            </a:r>
            <a:pPr indent="0" marL="0"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Phase 2 (surgical): </a:t>
            </a:r>
            <a:pPr indent="0" marL="0">
              <a:buNone/>
            </a:pPr>
            <a:r>
              <a:rPr lang="en-US" sz="1250" b="1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$767,000/mo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STANDALONE — CLINIC ONLY, ZERO 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Profitable Before a Single Surgery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de-risk. The clinic alone — no OR, no surgical license, no payer contracts — clears $3.65M net annually.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80260"/>
                <a:gridCol w="2080260"/>
                <a:gridCol w="2080260"/>
                <a:gridCol w="20802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Gross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Gross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$121,170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$1,454,040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Aesthetics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$166,775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$114,214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$2,001,300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$1,370,574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$592,800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$476,976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$17,405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$208,860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Aescape Robots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$419,175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$304,437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$5,030,100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$3,653,250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RAMP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Stabilization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20240"/>
          <a:ext cx="11064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Month ~14</a:t>
            </a:r>
            <a:pPr algn="ctr" indent="0" marL="0"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before the second OR is licensed.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AT STABILIZATION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2082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92040" y="202082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$1,186,175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202082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301545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Costs / COGS (~33%)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2301545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–$391,438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63978"/>
            <a:ext cx="6492240" cy="283464"/>
          </a:xfrm>
          <a:prstGeom prst="rect">
            <a:avLst/>
          </a:prstGeom>
          <a:solidFill>
            <a:srgbClr val="1C173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8226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after COGS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58226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$794,737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258226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286298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(6,500 SF NNN)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286298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–$44,000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3143707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Staff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143707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–$110,000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342442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Management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42442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–$28,000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3705149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CAC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3705149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–$35,000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398587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Malpractice + Liability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398587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–$12,000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" y="426659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Leases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426659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–$22,000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8680" y="4547311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/ Accreditation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92040" y="4547311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–$8,000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" y="482803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/ Software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92040" y="4828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–$14,000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090465"/>
            <a:ext cx="6492240" cy="283464"/>
          </a:xfrm>
          <a:prstGeom prst="rect">
            <a:avLst/>
          </a:prstGeom>
          <a:solidFill>
            <a:srgbClr val="1C1733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108753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Fixed Overhead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92040" y="5108753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–$273,000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0" y="5108753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435194"/>
            <a:ext cx="6492240" cy="18288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53577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 / MO  </a:t>
            </a:r>
            <a:pPr indent="0" marL="0">
              <a:buNone/>
            </a:pPr>
            <a:r>
              <a:rPr lang="en-US" sz="8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· Base Case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892040" y="553577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$521,737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00800" y="553577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06640" y="178308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81133"/>
          </a:solidFill>
          <a:ln w="15240">
            <a:solidFill>
              <a:srgbClr val="1D00C6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06640" y="1947672"/>
            <a:ext cx="64008" cy="1773936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~67%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777240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after COGS — before fixed overhead.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06640" y="411480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06640" y="4279392"/>
            <a:ext cx="64008" cy="1773936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4389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~$6.26M</a:t>
            </a:r>
            <a:endParaRPr lang="en-US" sz="4000" dirty="0"/>
          </a:p>
        </p:txBody>
      </p:sp>
      <p:sp>
        <p:nvSpPr>
          <p:cNvPr id="48" name="Text 46"/>
          <p:cNvSpPr/>
          <p:nvPr/>
        </p:nvSpPr>
        <p:spPr>
          <a:xfrm>
            <a:off x="7772400" y="5257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operating income at stabilization (base case).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BAND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· Base · Upside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operating-income outcomes across patient-volume and pricing assumptions.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15121E"/>
          </a:solidFill>
          <a:ln w="1524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7157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$1.07–1.57M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operating income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Gross/mo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08860" y="384048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$371,780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233672"/>
            <a:ext cx="2880360" cy="7315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434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Net/mo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08860" y="43434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$247,562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736592"/>
            <a:ext cx="2880360" cy="7315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4632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income/mo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08860" y="484632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$89–131K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5239512"/>
            <a:ext cx="2880360" cy="7315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21" name="Shape 19"/>
          <p:cNvSpPr/>
          <p:nvPr/>
        </p:nvSpPr>
        <p:spPr>
          <a:xfrm>
            <a:off x="4453128" y="21488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15121E"/>
          </a:solidFill>
          <a:ln w="25400">
            <a:solidFill>
              <a:srgbClr val="B6C800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01968" y="20116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6C8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01968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EXPECTED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27157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~$6.3M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73168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operating income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73168" y="384048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Gross/mo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3348" y="384048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$1,186,175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73168" y="4233672"/>
            <a:ext cx="2880360" cy="7315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43434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Net/mo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3348" y="43434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$794,737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73168" y="4736592"/>
            <a:ext cx="2880360" cy="7315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484632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income/mo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3348" y="484632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~$522K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73168" y="5239512"/>
            <a:ext cx="2880360" cy="7315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36" name="Shape 34"/>
          <p:cNvSpPr/>
          <p:nvPr/>
        </p:nvSpPr>
        <p:spPr>
          <a:xfrm>
            <a:off x="8357616" y="21488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181133"/>
          </a:solidFill>
          <a:ln w="15240">
            <a:solidFill>
              <a:srgbClr val="1D00C6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677656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77656" y="27157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$9.4–11.3M+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8677656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operating income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677656" y="384048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Gross/mo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117836" y="384048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$1,588,600+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77656" y="4233672"/>
            <a:ext cx="2880360" cy="7315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43" name="Text 41"/>
          <p:cNvSpPr/>
          <p:nvPr/>
        </p:nvSpPr>
        <p:spPr>
          <a:xfrm>
            <a:off x="8677656" y="43434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Net/mo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17836" y="43434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$1,060,594+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77656" y="4736592"/>
            <a:ext cx="2880360" cy="7315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46" name="Text 44"/>
          <p:cNvSpPr/>
          <p:nvPr/>
        </p:nvSpPr>
        <p:spPr>
          <a:xfrm>
            <a:off x="8677656" y="484632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income/mo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117836" y="484632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$787–944K+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77656" y="5239512"/>
            <a:ext cx="2880360" cy="7315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TIMELINE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Permits to Full ASC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2395728"/>
            <a:ext cx="10607040" cy="27432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286000"/>
            <a:ext cx="256032" cy="256032"/>
          </a:xfrm>
          <a:prstGeom prst="ellipse">
            <a:avLst/>
          </a:prstGeom>
          <a:solidFill>
            <a:srgbClr val="B6C800"/>
          </a:solidFill>
          <a:ln w="25400">
            <a:solidFill>
              <a:srgbClr val="0A0A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0–3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Pre-Open / Permits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accreditation pre-app, lease, design.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43784" y="2286000"/>
            <a:ext cx="256032" cy="256032"/>
          </a:xfrm>
          <a:prstGeom prst="ellipse">
            <a:avLst/>
          </a:prstGeom>
          <a:solidFill>
            <a:srgbClr val="CDD6FF"/>
          </a:solidFill>
          <a:ln w="25400">
            <a:solidFill>
              <a:srgbClr val="0A0A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26974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3–6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98064" y="30632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Clinic Launch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98064" y="374904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non-surgical procedures active.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93208" y="2286000"/>
            <a:ext cx="256032" cy="256032"/>
          </a:xfrm>
          <a:prstGeom prst="ellipse">
            <a:avLst/>
          </a:prstGeom>
          <a:solidFill>
            <a:srgbClr val="B6C800"/>
          </a:solidFill>
          <a:ln w="25400">
            <a:solidFill>
              <a:srgbClr val="0A0A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6974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3–16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47488" y="30632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Buildout (concurrent)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7488" y="374904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ORs + 1 Procedure Room under construction.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42632" y="2286000"/>
            <a:ext cx="256032" cy="256032"/>
          </a:xfrm>
          <a:prstGeom prst="ellipse">
            <a:avLst/>
          </a:prstGeom>
          <a:solidFill>
            <a:srgbClr val="CDD6FF"/>
          </a:solidFill>
          <a:ln w="25400">
            <a:solidFill>
              <a:srgbClr val="0A0A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26974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96912" y="30632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Full ASC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96912" y="374904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procedures active.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92056" y="2286000"/>
            <a:ext cx="256032" cy="256032"/>
          </a:xfrm>
          <a:prstGeom prst="ellipse">
            <a:avLst/>
          </a:prstGeom>
          <a:solidFill>
            <a:srgbClr val="B6C800"/>
          </a:solidFill>
          <a:ln w="25400">
            <a:solidFill>
              <a:srgbClr val="0A0A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46336" y="26974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16–36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46336" y="30632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46336" y="374904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ramp, payer contracting, volume build.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LAYOUT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A · 6,500 SF · Playa Vista, CA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28800"/>
            <a:ext cx="502920" cy="45720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Operating Rooms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57860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Surgical-grade, activated Month 16.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65576" y="1828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9896" y="1828800"/>
            <a:ext cx="502920" cy="45720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39896" y="20574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Procedure Room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39896" y="257860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activated Month 16.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82512" y="1828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56832" y="1828800"/>
            <a:ext cx="502920" cy="45720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56832" y="20574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+ Recovery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56832" y="257860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rooms + post-op recovery bays.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99448" y="1828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73768" y="1828800"/>
            <a:ext cx="502920" cy="45720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573768" y="20574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 Aescape Robots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573768" y="257860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massage stations (85% margin).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3657600"/>
            <a:ext cx="502920" cy="45720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8862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+ Regenerative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22960" y="440740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therapy lounge + regenerative suite.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65576" y="36576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39896" y="3657600"/>
            <a:ext cx="502920" cy="45720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29" name="Text 27"/>
          <p:cNvSpPr/>
          <p:nvPr/>
        </p:nvSpPr>
        <p:spPr>
          <a:xfrm>
            <a:off x="3739896" y="38862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 Spa Suite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739896" y="440740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aesthetics &amp; injectables suite.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82512" y="36576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56832" y="3657600"/>
            <a:ext cx="502920" cy="45720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33" name="Text 31"/>
          <p:cNvSpPr/>
          <p:nvPr/>
        </p:nvSpPr>
        <p:spPr>
          <a:xfrm>
            <a:off x="6656832" y="38862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 Ammortal + HBOT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656832" y="440740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chambers + hyperbaric oxygen.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99448" y="36576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573768" y="3657600"/>
            <a:ext cx="502920" cy="45720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37" name="Text 35"/>
          <p:cNvSpPr/>
          <p:nvPr/>
        </p:nvSpPr>
        <p:spPr>
          <a:xfrm>
            <a:off x="9573768" y="38862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Spaces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573768" y="440740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Kitchen, restrooms, clinical/admin offices.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6675120" cy="5029200"/>
          </a:xfrm>
          <a:prstGeom prst="roundRect">
            <a:avLst>
              <a:gd name="adj" fmla="val 1455"/>
            </a:avLst>
          </a:prstGeom>
          <a:solidFill>
            <a:srgbClr val="13110D"/>
          </a:solidFill>
          <a:ln w="25400">
            <a:solidFill>
              <a:srgbClr val="B6C800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$5M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open the Phase 1 clinic, build out two ORs and a procedure room, and carry working capital through Month 16 license activation.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977640"/>
            <a:ext cx="5760720" cy="13716"/>
          </a:xfrm>
          <a:prstGeom prst="rect">
            <a:avLst/>
          </a:prstGeom>
          <a:solidFill>
            <a:srgbClr val="342F5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4498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milestone-tranched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CAP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4498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$15M–$25M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4498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 (clinic)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4864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at the next priced round. Cap and discount finalized with lead investor.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43800" y="9509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99832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1371600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9832" y="1371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Clinic Buildout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19556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$500K–$900K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43800" y="2139696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9832" y="213969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OR Construction + Equipment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195560" y="213969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$2.5M–$3.25M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2907792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9832" y="29077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&amp; Recovery Equipment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95560" y="290779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$400K–$800K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43800" y="3675888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9832" y="36758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(to Month 16)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95560" y="367588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$500K–$750K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43800" y="4443984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9832" y="444398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Pre-Opening (legal, licensing)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95560" y="444398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$500K–$600K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43800" y="5212080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1C1C12"/>
          </a:solidFill>
          <a:ln w="15240">
            <a:solidFill>
              <a:srgbClr val="B6C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99832" y="5212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RANGE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21240" y="5212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$4.4M–$6.3M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on Proof, Not Promise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released in two milestone-tied tranches — capital deploys against demonstrated progress, and the larger tranche prices after the clinic proves the model.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32304"/>
            <a:ext cx="64008" cy="1399032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420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Tranche 1 — Clinic &amp; Pre-Opening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the Phase 1 buildout, accreditation, and working capital. The earliest, highest-risk capital — converts at the cap.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22860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81133"/>
          </a:solidFill>
          <a:ln w="17780">
            <a:solidFill>
              <a:srgbClr val="1D00C6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432304"/>
            <a:ext cx="64008" cy="1399032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5420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Tranche 2 — OR Construction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30632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at the clinic-open milestone, once revenue is flowing. De-risked capital funding the Phase 2 surgical core.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407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Co-Ownership Pool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91947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equity pool reserved up front for surgeon partners under California ASC rules — aligning surgical volume without surprise dilution.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53128" y="42062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27448" y="4407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B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Protections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27448" y="491947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cap, conversion discount, and pro-rata rights for the lead — standard early-stage terms, calibrated in the term sheet.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57616" y="42062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31936" y="4407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Financing Layers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31936" y="491947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leases, NMTC, and SBA 7(a) considered for OR buildout — reducing the equity required inside the $5M.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structure subject to lead-investor term sheet and counsel. Not an offer to sell securities.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&amp; VALUE CREATION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 Platform Bet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is the proof site. The model is built to replicate — same clinic-first sequencing, same payer mix, same wellness flywheel — across affluent metro pockets where Westside dynamics translate.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822960" cy="45720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37744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GEOGRAPHIC REPLICATION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263347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Westside Playbook, Other Metro Pockets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315468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profile maps to Newport Beach, Manhattan Beach, Scottsdale, Austin, Miami. Lower buildout risk on site #2 onward.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62272" y="21945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62272" y="2194560"/>
            <a:ext cx="822960" cy="45720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237744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CLINIC-FIRST SEQUENCING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18304" y="263347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Site Cash-Flows Before It Cuts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8304" y="315468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opens Month 3–6, generating $300–400K/mo to fund the OR buildout. Capital efficiency compounds per location.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75904" y="21945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2194560"/>
            <a:ext cx="822960" cy="45720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20" name="Text 18"/>
          <p:cNvSpPr/>
          <p:nvPr/>
        </p:nvSpPr>
        <p:spPr>
          <a:xfrm>
            <a:off x="8631936" y="237744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RECURRING REVENUE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31936" y="263347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&amp; Programs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31936" y="315468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Longevity, hormone, GLP-1, and IV/peptide therapy support subscription structures — episodic visits become retained patients.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297680"/>
            <a:ext cx="822960" cy="45720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4805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PROPRIETARY TECH MOAT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" y="473659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Aescape, Ammortal, HBOT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525780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massage, recovery chambers, and HBOT at 80–85% margins with near-zero physician dependency. Margin defense at scale.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42976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62272" y="4297680"/>
            <a:ext cx="822960" cy="45720"/>
          </a:xfrm>
          <a:prstGeom prst="rect">
            <a:avLst/>
          </a:prstGeom>
          <a:solidFill>
            <a:srgbClr val="B6C800"/>
          </a:solidFill>
          <a:ln/>
        </p:spPr>
      </p:sp>
      <p:sp>
        <p:nvSpPr>
          <p:cNvPr id="30" name="Text 28"/>
          <p:cNvSpPr/>
          <p:nvPr/>
        </p:nvSpPr>
        <p:spPr>
          <a:xfrm>
            <a:off x="4718304" y="44805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SURGICAL-WELLNESS LOOP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18304" y="473659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Pre-Op Optimization → Recovery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18304" y="525780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drives the surgical pipeline; surgical patients flow back into wellness. The integrated loop is the network effect.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75904" y="42976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75904" y="4297680"/>
            <a:ext cx="822960" cy="45720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35" name="Text 33"/>
          <p:cNvSpPr/>
          <p:nvPr/>
        </p:nvSpPr>
        <p:spPr>
          <a:xfrm>
            <a:off x="8631936" y="44805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STRATEGIC OPTIONALITY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31936" y="473659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Routes Open at Each Stage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31936" y="525780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footprint opens hospital systems, PE-backed ASC roll-ups, and longevity platforms — optionality preserved throughout.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9377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NEXT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Builds This — and What's Next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Operator — Laura Brody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86537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6C80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653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 (MD/DO)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32257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39354F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3225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43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Clinical Director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277977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39354F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7797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200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 / Injector (NP/PA)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323697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39354F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2369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657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AI Officer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369417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39354F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6941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181133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114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 Partners (Ortho/Spine)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17720" y="415137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39354F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4151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15121E"/>
          </a:solidFill>
          <a:ln w="12700">
            <a:solidFill>
              <a:srgbClr val="342F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4572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Anesthesia (MD vs. CRNA)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17720" y="460857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E2A44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46085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159105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36" name="Text 34"/>
          <p:cNvSpPr/>
          <p:nvPr/>
        </p:nvSpPr>
        <p:spPr>
          <a:xfrm>
            <a:off x="6656832" y="1554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raise structure, close commitments.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0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Playa Vista Class A lease.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0" y="2670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03720" y="2670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Phase 1 clinic buildout (Mo 3–6 open).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0080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03720" y="3035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AAAHC pre-app + California SURGC.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00800" y="3401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03720" y="3401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Aescape, Ammortal, HBOT, lasers.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00800" y="3767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03720" y="3767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clinical + medical directors, injector.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00800" y="4133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03720" y="4133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 OR construction (Mo 16 target).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400800" y="4498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03720" y="4498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surgeons + execute payer contracts.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3110D"/>
          </a:solidFill>
          <a:ln w="19050">
            <a:solidFill>
              <a:srgbClr val="B6C800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22960" y="5212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WESTSIDE'S FIRST INTEGRATED ASC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822960" y="56509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 integrated surgical care and longevity — under one roof, in Playa Vista.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823960" y="54406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B6C800"/>
          </a:solidFill>
          <a:ln/>
        </p:spPr>
      </p:sp>
      <p:sp>
        <p:nvSpPr>
          <p:cNvPr id="57" name="Text 55"/>
          <p:cNvSpPr/>
          <p:nvPr/>
        </p:nvSpPr>
        <p:spPr>
          <a:xfrm>
            <a:off x="8823960" y="5440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Laura@culvercitysurgical.com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38428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Playa Vista ASC — Investor Pitch</dc:title>
  <dc:subject>PptxGenJS Presentation</dc:subject>
  <dc:creator>Playa Vista ASC &amp; Rejuvenation Clinic</dc:creator>
  <cp:lastModifiedBy>Playa Vista ASC &amp; Rejuvenation Clinic</cp:lastModifiedBy>
  <cp:revision>1</cp:revision>
  <dcterms:created xsi:type="dcterms:W3CDTF">2026-06-01T02:31:39Z</dcterms:created>
  <dcterms:modified xsi:type="dcterms:W3CDTF">2026-06-01T02:31:39Z</dcterms:modified>
</cp:coreProperties>
</file>