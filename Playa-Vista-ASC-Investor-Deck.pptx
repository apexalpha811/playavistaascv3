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 Income / Mo ($K)</c:v>
                </c:pt>
              </c:strCache>
            </c:strRef>
          </c:tx>
          <c:spPr>
            <a:solidFill>
              <a:srgbClr val="B6C800"/>
            </a:solidFill>
            <a:effectLst/>
          </c:spPr>
          <c:invertIfNegative val="0"/>
          <c:dLbls>
            <c:numFmt formatCode="$#,##0&quot;K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Mo 0–3</c:v>
                  </c:pt>
                  <c:pt idx="1">
                    <c:v>Mo 3–6</c:v>
                  </c:pt>
                  <c:pt idx="2">
                    <c:v>Mo 6–12</c:v>
                  </c:pt>
                  <c:pt idx="3">
                    <c:v>Mo 12–16</c:v>
                  </c:pt>
                  <c:pt idx="4">
                    <c:v>Mo 16–20</c:v>
                  </c:pt>
                  <c:pt idx="5">
                    <c:v>Mo 20–28</c:v>
                  </c:pt>
                  <c:pt idx="6">
                    <c:v>Mo 28–36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-273</c:v>
                </c:pt>
                <c:pt idx="1">
                  <c:v>-121</c:v>
                </c:pt>
                <c:pt idx="2">
                  <c:v>-47</c:v>
                </c:pt>
                <c:pt idx="3">
                  <c:v>0</c:v>
                </c:pt>
                <c:pt idx="4">
                  <c:v>212</c:v>
                </c:pt>
                <c:pt idx="5">
                  <c:v>346</c:v>
                </c:pt>
                <c:pt idx="6">
                  <c:v>522</c:v>
                </c:pt>
              </c:numCache>
            </c:numRef>
          </c:val>
        </c:ser>
        <c:dLbls>
          <c:numFmt formatCode="$#,##0&quot;K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42F52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EAEC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C2748"/>
              </a:solidFill>
              <a:prstDash val="solid"/>
              <a:round/>
            </a:ln>
          </c:spPr>
        </c:majorGridlines>
        <c:numFmt formatCode="$#,##0&quot;K&quot;" sourceLinked="0"/>
        <c:majorTickMark val="out"/>
        <c:minorTickMark val="none"/>
        <c:tickLblPos val="nextTo"/>
        <c:spPr>
          <a:ln w="12700" cap="flat">
            <a:solidFill>
              <a:srgbClr val="342F52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EAEC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0A0F"/>
        </a:solidFill>
        <a:ln>
          <a:noFill/>
        </a:ln>
        <a:effectLst/>
      </c:spPr>
    </c:plotArea>
    <c:plotVisOnly val="1"/>
    <c:dispBlanksAs val="span"/>
  </c:chart>
  <c:spPr>
    <a:solidFill>
      <a:srgbClr val="0A0A0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949440" y="2011680"/>
            <a:ext cx="7315200" cy="7315200"/>
          </a:xfrm>
          <a:prstGeom prst="ellipse">
            <a:avLst/>
          </a:prstGeom>
          <a:solidFill>
            <a:srgbClr val="1D00C6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90525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2026 · PLAYA VISTA, CA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28016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PLAYA VISTA </a:t>
            </a:r>
            <a:pPr indent="0" marL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ASC</a:t>
            </a:r>
            <a:pPr indent="0" marL="0">
              <a:lnSpc>
                <a:spcPct val="98000"/>
              </a:lnSpc>
              <a:buNone/>
            </a:pPr>
            <a:endParaRPr lang="en-US" sz="5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REJUVENATION CLINIC</a:t>
            </a:r>
            <a:endParaRPr lang="en-US" sz="500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914400" cy="54864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101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Cash-flow positive on the clinic alone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10+ months before the first OR ever opens.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77240" y="395020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vertically integrated surgical and wellness destination — where longevity programming accelerates surgical outcomes and cash-pay wellness funds the buildout.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" y="4818888"/>
            <a:ext cx="10607040" cy="18288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983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$43B+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77240" y="5550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ASC market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80560" y="4983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~67%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480560" y="5550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margin at stabilization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183880" y="4983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~$6.3M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183880" y="5550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(Projected · Base Case)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3949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Fragmented, Slow Standard of Care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46888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6–12 wk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868680" y="365760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wait times patients endure for outpatient procedures.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53128" y="210312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73168" y="246888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773168" y="365760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luxury ASC + wellness facilities on the Westside today.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57616" y="210312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77656" y="246888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3+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677656" y="365760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providers patients must navigate for surgery, recovery, and wellness.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3949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 · Vision · Philosophy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267712"/>
            <a:ext cx="64008" cy="2962656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4231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96112" y="3017520"/>
            <a:ext cx="28620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world-class outpatient surgical care and evidence-based rejuvenation under one roof — premium healthcare made accessible, efficient, and transformative.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453128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53128" y="2267712"/>
            <a:ext cx="64008" cy="2962656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24231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00600" y="3017520"/>
            <a:ext cx="28620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 the leading vertically integrated ambulatory surgery and longevity destination on LA's Westside — known for clinical excellence, outcomes, and innovation.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357616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267712"/>
            <a:ext cx="64008" cy="2962656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7" name="Text 15"/>
          <p:cNvSpPr/>
          <p:nvPr/>
        </p:nvSpPr>
        <p:spPr>
          <a:xfrm>
            <a:off x="8705088" y="24231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Philosophy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017520"/>
            <a:ext cx="28620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outcomes improve when patients are optimized before procedures and supported with evidence-based recovery, regenerative, and longevity protocols afterward.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3949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NOW, WHY WESTSIDE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Opening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2258568"/>
            <a:ext cx="41148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4231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Unserved Westside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luxury ASC on the Westside integrates wellness into surgical care.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453128" y="196596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73168" y="2258568"/>
            <a:ext cx="41148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3" name="Text 11"/>
          <p:cNvSpPr/>
          <p:nvPr/>
        </p:nvSpPr>
        <p:spPr>
          <a:xfrm>
            <a:off x="4773168" y="24231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Dual-Stream Unlock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73168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Insurance-backed surgical revenue and cash-pay wellness revenue, combined under one roof.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357616" y="196596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77656" y="2258568"/>
            <a:ext cx="41148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7" name="Text 15"/>
          <p:cNvSpPr/>
          <p:nvPr/>
        </p:nvSpPr>
        <p:spPr>
          <a:xfrm>
            <a:off x="8677656" y="24231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Cash Flow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77656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clinic revenue starts 10+ months before OR activation — capital works while accreditation runs.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92861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892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GEOGRAPHY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5257800"/>
            <a:ext cx="1421892" cy="420624"/>
          </a:xfrm>
          <a:prstGeom prst="roundRect">
            <a:avLst>
              <a:gd name="adj" fmla="val 50000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257800"/>
            <a:ext cx="14218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2199132" y="5257800"/>
            <a:ext cx="1421892" cy="420624"/>
          </a:xfrm>
          <a:prstGeom prst="roundRect">
            <a:avLst>
              <a:gd name="adj" fmla="val 50000"/>
            </a:avLst>
          </a:prstGeom>
          <a:solidFill>
            <a:srgbClr val="181133"/>
          </a:solidFill>
          <a:ln w="12700">
            <a:solidFill>
              <a:srgbClr val="1D00C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99132" y="5257800"/>
            <a:ext cx="14218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Culver City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849624" y="5257800"/>
            <a:ext cx="1709928" cy="420624"/>
          </a:xfrm>
          <a:prstGeom prst="roundRect">
            <a:avLst>
              <a:gd name="adj" fmla="val 50000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9624" y="525780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Marina del Rey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788152" y="5257800"/>
            <a:ext cx="1517904" cy="420624"/>
          </a:xfrm>
          <a:prstGeom prst="roundRect">
            <a:avLst>
              <a:gd name="adj" fmla="val 50000"/>
            </a:avLst>
          </a:prstGeom>
          <a:solidFill>
            <a:srgbClr val="181133"/>
          </a:solidFill>
          <a:ln w="12700">
            <a:solidFill>
              <a:srgbClr val="1D0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88152" y="5257800"/>
            <a:ext cx="1517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Monica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3949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PORTFOLIO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Revenue Streams · One Facility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6,000–6,500 SF in Playa Vista. Phase 1 launches at Month 3–6; Phase 2 ORs activate at Month 16.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532888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53288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MO 3–6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Wellness + Aesthetics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36118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$419K/mo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868680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 margin · cash-pay · funds the OR build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453128" y="22402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181133"/>
          </a:solidFill>
          <a:ln w="19050">
            <a:solidFill>
              <a:srgbClr val="1D00C6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73168" y="2532888"/>
            <a:ext cx="1193292" cy="274320"/>
          </a:xfrm>
          <a:prstGeom prst="roundRect">
            <a:avLst>
              <a:gd name="adj" fmla="val 50000"/>
            </a:avLst>
          </a:prstGeom>
          <a:solidFill>
            <a:srgbClr val="1D00C6"/>
          </a:solidFill>
          <a:ln/>
        </p:spPr>
      </p:sp>
      <p:sp>
        <p:nvSpPr>
          <p:cNvPr id="16" name="Text 14"/>
          <p:cNvSpPr/>
          <p:nvPr/>
        </p:nvSpPr>
        <p:spPr>
          <a:xfrm>
            <a:off x="4773168" y="2532888"/>
            <a:ext cx="11932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MO 16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73168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ASC Surgical Core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73168" y="36118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B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$767K/mo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773168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 margin · insurance-backed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357616" y="22402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15121E"/>
          </a:solidFill>
          <a:ln w="25400">
            <a:solidFill>
              <a:srgbClr val="B6C800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77656" y="25328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22" name="Text 20"/>
          <p:cNvSpPr/>
          <p:nvPr/>
        </p:nvSpPr>
        <p:spPr>
          <a:xfrm>
            <a:off x="8677656" y="25328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16+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77656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Combined Run-Rate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677656" y="36118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$1.19M/mo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8677656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stabilization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CATEGORIES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Categories · 21 Revenue Lines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965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22037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Regenerative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PRP · Hormone/Peptide/GLP · IV Therapy (NAD+)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1821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$162.5K/mo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53128" y="17830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27448" y="1965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27448" y="22037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Wellness &amp; Aesthetics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27448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Botox &amp; Fillers · Laser · Morpheus8 · Emsculpt · CoolSculpting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27448" y="31821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$166.8K/mo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357616" y="17830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31936" y="1965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631936" y="22037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Recovery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31936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Hyperbaric O₂ · Compression/NeuFit · Red Light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631936" y="31821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$49.4K/mo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2960" y="40233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2960" y="42611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Diagnostics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2960" y="46634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Biometrics · DNA · DUTCH · DEXA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2960" y="52395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$26.5K/mo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453128" y="38404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27448" y="40233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727448" y="42611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Aescape Robots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727448" y="46634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robotic massage stations · 85% margin · zero physician dependency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27448" y="52395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$14K/mo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357616" y="38404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81133"/>
          </a:solidFill>
          <a:ln w="19050">
            <a:solidFill>
              <a:srgbClr val="1D00C6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631936" y="40233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631936" y="42611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Surgery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631936" y="46634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Mgmt · Podiatry · Orthopedic · Spine (MIS)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631936" y="52395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DD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$767K/mo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4805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114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PORTFOLIO — FULL DETAIL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11430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21-Line Procedure Model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Pricing, margin, and monthly gross per line — the diligence-level view behind the three-stream summary.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77240"/>
                <a:gridCol w="914400"/>
                <a:gridCol w="1325880"/>
              </a:tblGrid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Procedure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Gross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</a:tr>
              <a:tr h="2331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 · PHASE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Massage ×2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 / NeuFit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Hyperbaric O₂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Light Therapy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ROBOTS · PHASE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Massage ×2 (stations)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 · PHASE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PRP Injections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$57,500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 / Peptide / GLP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 Therapy (NAD+/Drips)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WELLNESS &amp; AESTHETICS · PHASE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Botox &amp; Fillers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Laser Platform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Morpheus8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Emsculpt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$29,250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CoolSculpting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7452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77240"/>
                <a:gridCol w="914400"/>
                <a:gridCol w="1325880"/>
              </a:tblGrid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Procedure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Gross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</a:tr>
              <a:tr h="2331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 · PHASE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Biometrics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DNA Analysis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DUTCH Testing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DEXA Scan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 · PHASE 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 Mgmt (Epidural/RFA)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Podiatry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$175,000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Orthopedic (Arthro/TJR)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$144,000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Spine Surgery (MIS)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$288,000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— 21 lines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$1,186,175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217920" y="4901184"/>
            <a:ext cx="5394960" cy="1051560"/>
          </a:xfrm>
          <a:prstGeom prst="roundRect">
            <a:avLst>
              <a:gd name="adj" fmla="val 6957"/>
            </a:avLst>
          </a:prstGeom>
          <a:solidFill>
            <a:srgbClr val="181133"/>
          </a:solidFill>
          <a:ln w="15240">
            <a:solidFill>
              <a:srgbClr val="1D00C6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446520" y="506577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SPLIT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6446520" y="53583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(clinic): </a:t>
            </a:r>
            <a:pPr indent="0" marL="0">
              <a:buNone/>
            </a:pPr>
            <a:r>
              <a:rPr lang="en-US" sz="12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$419,175/mo</a:t>
            </a:r>
            <a:pPr indent="0" marL="0"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Phase 2 (surgical): </a:t>
            </a:r>
            <a:pPr indent="0" marL="0">
              <a:buNone/>
            </a:pPr>
            <a:r>
              <a:rPr lang="en-US" sz="1250" b="1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$767,000/mo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STANDALONE — CLINIC ONLY, ZERO ORS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Profitable Before a Single Surgery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72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de-risk. The clinic alone — no OR, no surgical license, no payer contracts — clears $3.65M net annually.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0260"/>
                <a:gridCol w="2080260"/>
                <a:gridCol w="2080260"/>
                <a:gridCol w="20802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Gross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Gross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$121,170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$1,950,000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$1,454,040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$166,775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$2,001,300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$1,370,574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$49,400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$39,748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$592,800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$476,976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$17,405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$208,860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Robots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$142,800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1 TOTAL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$419,175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$304,437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$5,030,100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$3,653,250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RAMP MODEL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Path to Stabilization</a:t>
            </a:r>
            <a:endParaRPr lang="en-US" sz="3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920240"/>
          <a:ext cx="110642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C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Month ~14</a:t>
            </a:r>
            <a:pPr algn="ctr" indent="0" marL="0"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before the second OR is licensed.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P&amp;L AT STABILIZATION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Economics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03911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Revenue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892040" y="203911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$1,186,175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0" y="2039112"/>
            <a:ext cx="4572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" y="235915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Costs / COGS (~33%)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92040" y="235915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–$391,438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660904"/>
            <a:ext cx="6492240" cy="315468"/>
          </a:xfrm>
          <a:prstGeom prst="rect">
            <a:avLst/>
          </a:prstGeom>
          <a:solidFill>
            <a:srgbClr val="1C1733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267919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Net after COGS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92040" y="267919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$794,737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0" y="2679192"/>
            <a:ext cx="4572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(6,500 SF NNN)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892040" y="299923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–$44,000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68680" y="331927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Staff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92040" y="331927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–$110,000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8680" y="363931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/ Management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92040" y="363931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–$28,000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68680" y="395935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CAC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92040" y="395935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–$35,000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68680" y="427939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Malpractice + Liability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92040" y="427939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–$12,000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68680" y="459943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Leases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892040" y="459943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–$22,000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68680" y="491947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/ Accreditation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892040" y="491947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–$8,000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8680" y="523951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 / Software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892040" y="523951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–$14,000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5541264"/>
            <a:ext cx="6492240" cy="315468"/>
          </a:xfrm>
          <a:prstGeom prst="rect">
            <a:avLst/>
          </a:prstGeom>
          <a:solidFill>
            <a:srgbClr val="1C1733"/>
          </a:solidFill>
          <a:ln/>
        </p:spPr>
      </p:sp>
      <p:sp>
        <p:nvSpPr>
          <p:cNvPr id="34" name="Text 32"/>
          <p:cNvSpPr/>
          <p:nvPr/>
        </p:nvSpPr>
        <p:spPr>
          <a:xfrm>
            <a:off x="868680" y="555955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Fixed Overhead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92040" y="555955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–$273,000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00800" y="5559552"/>
            <a:ext cx="4572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8640" y="5925312"/>
            <a:ext cx="6492240" cy="18288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38" name="Text 36"/>
          <p:cNvSpPr/>
          <p:nvPr/>
        </p:nvSpPr>
        <p:spPr>
          <a:xfrm>
            <a:off x="868680" y="60258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INCOME / MO  </a:t>
            </a:r>
            <a:pPr indent="0" marL="0">
              <a:buNone/>
            </a:pPr>
            <a:r>
              <a:rPr lang="en-US" sz="8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· Base Case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4892040" y="602589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$521,737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400800" y="60258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406640" y="1783080"/>
            <a:ext cx="4206240" cy="2103120"/>
          </a:xfrm>
          <a:prstGeom prst="roundRect">
            <a:avLst>
              <a:gd name="adj" fmla="val 3478"/>
            </a:avLst>
          </a:prstGeom>
          <a:solidFill>
            <a:srgbClr val="181133"/>
          </a:solidFill>
          <a:ln w="15240">
            <a:solidFill>
              <a:srgbClr val="1D00C6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406640" y="1947672"/>
            <a:ext cx="64008" cy="1773936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43" name="Text 41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~67%</a:t>
            </a:r>
            <a:endParaRPr lang="en-US" sz="4400" dirty="0"/>
          </a:p>
        </p:txBody>
      </p:sp>
      <p:sp>
        <p:nvSpPr>
          <p:cNvPr id="44" name="Text 42"/>
          <p:cNvSpPr/>
          <p:nvPr/>
        </p:nvSpPr>
        <p:spPr>
          <a:xfrm>
            <a:off x="777240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 after COGS — before fixed overhead.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7406640" y="4114800"/>
            <a:ext cx="4206240" cy="2103120"/>
          </a:xfrm>
          <a:prstGeom prst="roundRect">
            <a:avLst>
              <a:gd name="adj" fmla="val 3478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406640" y="4279392"/>
            <a:ext cx="64008" cy="1773936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0" y="43891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~$6.26M</a:t>
            </a:r>
            <a:endParaRPr lang="en-US" sz="4000" dirty="0"/>
          </a:p>
        </p:txBody>
      </p:sp>
      <p:sp>
        <p:nvSpPr>
          <p:cNvPr id="48" name="Text 46"/>
          <p:cNvSpPr/>
          <p:nvPr/>
        </p:nvSpPr>
        <p:spPr>
          <a:xfrm>
            <a:off x="7772400" y="52578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Annualized operating income at stabilization (base case).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BAND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· Base · Upside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72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operating-income outcomes across patient-volume and pricing assumptions.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15121E"/>
          </a:solidFill>
          <a:ln w="1524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423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27157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7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$1.07–1.57M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868680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Gross/mo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08860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$371,780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423367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Net/mo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308860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$247,562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68680" y="473659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income/mo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08860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$89–131K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8680" y="523951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4453128" y="21488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15121E"/>
          </a:solidFill>
          <a:ln w="25400">
            <a:solidFill>
              <a:srgbClr val="B6C800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01968" y="20116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23" name="Text 21"/>
          <p:cNvSpPr/>
          <p:nvPr/>
        </p:nvSpPr>
        <p:spPr>
          <a:xfrm>
            <a:off x="6601968" y="2011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73168" y="2423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EXPECTED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3168" y="27157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~$6.3M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773168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73168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Gross/mo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3348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$1,186,175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73168" y="423367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30" name="Text 28"/>
          <p:cNvSpPr/>
          <p:nvPr/>
        </p:nvSpPr>
        <p:spPr>
          <a:xfrm>
            <a:off x="4773168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Net/mo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13348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$794,737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73168" y="473659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33" name="Text 31"/>
          <p:cNvSpPr/>
          <p:nvPr/>
        </p:nvSpPr>
        <p:spPr>
          <a:xfrm>
            <a:off x="4773168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income/mo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213348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~$522K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73168" y="523951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8357616" y="21488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181133"/>
          </a:solidFill>
          <a:ln w="15240">
            <a:solidFill>
              <a:srgbClr val="1D00C6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677656" y="2423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677656" y="27157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$9.4–11.3M+</a:t>
            </a:r>
            <a:endParaRPr lang="en-US" sz="2800" dirty="0"/>
          </a:p>
        </p:txBody>
      </p:sp>
      <p:sp>
        <p:nvSpPr>
          <p:cNvPr id="39" name="Text 37"/>
          <p:cNvSpPr/>
          <p:nvPr/>
        </p:nvSpPr>
        <p:spPr>
          <a:xfrm>
            <a:off x="8677656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677656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Gross/mo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117836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$1,588,600+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677656" y="423367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43" name="Text 41"/>
          <p:cNvSpPr/>
          <p:nvPr/>
        </p:nvSpPr>
        <p:spPr>
          <a:xfrm>
            <a:off x="8677656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Net/mo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117836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$1,060,594+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677656" y="473659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46" name="Text 44"/>
          <p:cNvSpPr/>
          <p:nvPr/>
        </p:nvSpPr>
        <p:spPr>
          <a:xfrm>
            <a:off x="8677656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income/mo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117836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$787–944K+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677656" y="523951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49" name="Text 4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TIMELINE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Permits to Full ASC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77240" y="2395728"/>
            <a:ext cx="10607040" cy="27432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2286000"/>
            <a:ext cx="256032" cy="256032"/>
          </a:xfrm>
          <a:prstGeom prst="ellipse">
            <a:avLst/>
          </a:prstGeom>
          <a:solidFill>
            <a:srgbClr val="B6C800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0–3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Pre-Open / Permits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Licensing, accreditation pre-app, lease, design.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843784" y="2286000"/>
            <a:ext cx="256032" cy="256032"/>
          </a:xfrm>
          <a:prstGeom prst="ellipse">
            <a:avLst/>
          </a:prstGeom>
          <a:solidFill>
            <a:srgbClr val="CDD6FF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98064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3–6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98064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Clinic Launch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98064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non-surgical procedures active.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93208" y="2286000"/>
            <a:ext cx="256032" cy="256032"/>
          </a:xfrm>
          <a:prstGeom prst="ellipse">
            <a:avLst/>
          </a:prstGeom>
          <a:solidFill>
            <a:srgbClr val="B6C800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47488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3–16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47488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Buildout (concurrent)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47488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ORs + 1 Procedure Room under construction.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42632" y="2286000"/>
            <a:ext cx="256032" cy="256032"/>
          </a:xfrm>
          <a:prstGeom prst="ellipse">
            <a:avLst/>
          </a:prstGeom>
          <a:solidFill>
            <a:srgbClr val="CDD6FF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96912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296912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Full ASC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296912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21 procedures active.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92056" y="2286000"/>
            <a:ext cx="256032" cy="256032"/>
          </a:xfrm>
          <a:prstGeom prst="ellipse">
            <a:avLst/>
          </a:prstGeom>
          <a:solidFill>
            <a:srgbClr val="B6C800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46336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16–36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546336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Stabilization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46336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ramp, payer contracting, volume build.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LAYOUT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A · 6,500 SF · Playa Vista, CA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8288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Operating Rooms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Surgical-grade, activated Month 16.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65576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39896" y="1828800"/>
            <a:ext cx="50292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3" name="Text 11"/>
          <p:cNvSpPr/>
          <p:nvPr/>
        </p:nvSpPr>
        <p:spPr>
          <a:xfrm>
            <a:off x="3739896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Procedure Room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739896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Dedicated, activated Month 16.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82512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56832" y="18288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7" name="Text 15"/>
          <p:cNvSpPr/>
          <p:nvPr/>
        </p:nvSpPr>
        <p:spPr>
          <a:xfrm>
            <a:off x="6656832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 + Recovery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656832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rooms + post-op recovery bays.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99448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73768" y="1828800"/>
            <a:ext cx="50292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21" name="Text 19"/>
          <p:cNvSpPr/>
          <p:nvPr/>
        </p:nvSpPr>
        <p:spPr>
          <a:xfrm>
            <a:off x="9573768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2× Aescape Robots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573768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massage stations (85% margin).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2960" y="36576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 + Regenerative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22960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therapy lounge + regenerative suite.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65576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739896" y="3657600"/>
            <a:ext cx="50292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29" name="Text 27"/>
          <p:cNvSpPr/>
          <p:nvPr/>
        </p:nvSpPr>
        <p:spPr>
          <a:xfrm>
            <a:off x="3739896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 Spa Suite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3739896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aesthetics &amp; injectables suite.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82512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56832" y="36576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33" name="Text 31"/>
          <p:cNvSpPr/>
          <p:nvPr/>
        </p:nvSpPr>
        <p:spPr>
          <a:xfrm>
            <a:off x="6656832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2× Ammortal + HBOT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6656832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chambers + hyperbaric oxygen.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99448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573768" y="3657600"/>
            <a:ext cx="50292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37" name="Text 35"/>
          <p:cNvSpPr/>
          <p:nvPr/>
        </p:nvSpPr>
        <p:spPr>
          <a:xfrm>
            <a:off x="9573768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Spaces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573768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Kitchen, restrooms, clinical/admin offices.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6675120" cy="5029200"/>
          </a:xfrm>
          <a:prstGeom prst="roundRect">
            <a:avLst>
              <a:gd name="adj" fmla="val 1455"/>
            </a:avLst>
          </a:prstGeom>
          <a:solidFill>
            <a:srgbClr val="13110D"/>
          </a:solidFill>
          <a:ln w="25400">
            <a:solidFill>
              <a:srgbClr val="B6C800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$5M</a:t>
            </a:r>
            <a:endParaRPr lang="en-US" sz="8000" dirty="0"/>
          </a:p>
        </p:txBody>
      </p:sp>
      <p:sp>
        <p:nvSpPr>
          <p:cNvPr id="9" name="Text 7"/>
          <p:cNvSpPr/>
          <p:nvPr/>
        </p:nvSpPr>
        <p:spPr>
          <a:xfrm>
            <a:off x="1005840" y="30632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open the Phase 1 clinic, build out two ORs and a procedure room, and carry working capital through Month 16 license activation.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3977640"/>
            <a:ext cx="5760720" cy="13716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05840" y="44988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· milestone-tranched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2608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CAP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926080" y="44988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 $15M–$25M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REVENUE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44988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3–6 (clinic)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54864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at the next priced round. Cap and discount finalized with lead investor.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543800" y="9509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9" name="Text 17"/>
          <p:cNvSpPr/>
          <p:nvPr/>
        </p:nvSpPr>
        <p:spPr>
          <a:xfrm>
            <a:off x="7799832" y="9144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43800" y="1371600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99832" y="1371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Clinic Buildout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195560" y="1371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$500K–$900K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543800" y="2139696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99832" y="2139696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OR Construction + Equipment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195560" y="213969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$2.5M–$3.25M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543800" y="2907792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99832" y="290779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Aesthetic &amp; Recovery Equipment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195560" y="290779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$400K–$800K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43800" y="3675888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99832" y="3675888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 (to Month 16)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195560" y="36758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$500K–$750K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543800" y="4443984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99832" y="4443984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Pre-Opening (legal, licensing)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195560" y="444398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$500K–$600K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543800" y="5212080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C1C12"/>
          </a:solidFill>
          <a:ln w="15240">
            <a:solidFill>
              <a:srgbClr val="B6C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99832" y="52120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RANGE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921240" y="52120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$4.4M–$6.3M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STRUCTURE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Priced on Proof, Not Promise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7276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SAFE released in two milestone-tied tranches — capital deploys against demonstrated progress, and the larger tranche prices after the clinic proves the model.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432304"/>
            <a:ext cx="64008" cy="1399032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542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Tranche 1 — Clinic &amp; Pre-Opening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306324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the Phase 1 buildout, accreditation, and working capital. The earliest, highest-risk capital — converts at the cap.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55080" y="228600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81133"/>
          </a:solidFill>
          <a:ln w="17780">
            <a:solidFill>
              <a:srgbClr val="1D00C6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55080" y="2432304"/>
            <a:ext cx="64008" cy="1399032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2542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Tranche 2 — OR Construction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20840" y="306324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at the clinic-open milestone, once revenue is flowing. De-risked capital funding the Phase 2 surgical core.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2062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440740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Physician Co-Ownership Pool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2960" y="4919472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 equity pool reserved up front for surgeon partners under California ASC rules — aligning surgical volume without surprise dilution.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53128" y="42062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727448" y="440740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B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Investor Protections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27448" y="4919472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cap, conversion discount, and pro-rata rights for the lead — standard early-stage terms, calibrated in the term sheet.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357616" y="42062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631936" y="440740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Financing Layers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631936" y="4919472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leases, NMTC, and SBA 7(a) considered for OR buildout — reducing the equity required inside the $5M.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structure subject to lead-investor term sheet and counsel. Not an offer to sell securities.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&amp; VALUE CREATION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 Platform Bet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is the proof site. The model is built to replicate — same clinic-first sequencing, same payer mix, same wellness flywheel — across affluent metro pockets where Westside dynamics translate.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194560"/>
            <a:ext cx="82296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37744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GEOGRAPHIC REPLICATION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4672" y="263347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Westside Playbook, Other Metro Pockets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315468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profile maps to Newport Beach, Manhattan Beach, Scottsdale, Austin, Miami. Lower buildout risk on site #2 onward.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62272" y="21945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62272" y="2194560"/>
            <a:ext cx="82296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718304" y="237744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CLINIC-FIRST SEQUENCING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18304" y="263347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Site Cash-Flows Before It Cuts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18304" y="315468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opens Month 3–6, generating $300–400K/mo to fund the OR buildout. Capital efficiency compounds per location.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375904" y="21945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75904" y="2194560"/>
            <a:ext cx="82296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20" name="Text 18"/>
          <p:cNvSpPr/>
          <p:nvPr/>
        </p:nvSpPr>
        <p:spPr>
          <a:xfrm>
            <a:off x="8631936" y="237744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RECURRING REVENUE LAYER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31936" y="263347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Membership &amp; Programs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31936" y="315468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Longevity, hormone, GLP-1, and IV/peptide therapy support subscription structures — episodic visits become retained patients.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42976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4297680"/>
            <a:ext cx="82296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" y="448056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PROPRIETARY TECH MOAT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04672" y="473659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Aescape, Ammortal, HBOT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04672" y="525780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massage, recovery chambers, and HBOT at 80–85% margins with near-zero physician dependency. Margin defense at scale.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62272" y="42976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62272" y="4297680"/>
            <a:ext cx="82296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30" name="Text 28"/>
          <p:cNvSpPr/>
          <p:nvPr/>
        </p:nvSpPr>
        <p:spPr>
          <a:xfrm>
            <a:off x="4718304" y="448056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SURGICAL-WELLNESS LOOP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18304" y="473659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Pre-Op Optimization → Recovery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718304" y="525780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drives the surgical pipeline; surgical patients flow back into wellness. The integrated loop is the network effect.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375904" y="42976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375904" y="4297680"/>
            <a:ext cx="82296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35" name="Text 33"/>
          <p:cNvSpPr/>
          <p:nvPr/>
        </p:nvSpPr>
        <p:spPr>
          <a:xfrm>
            <a:off x="8631936" y="448056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STRATEGIC OPTIONALITY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631936" y="473659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Exit Routes Open at Each Stage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631936" y="525780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Multi-site footprint opens hospital systems, PE-backed ASC roll-ups, and longevity platforms — optionality preserved throughout.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NEXT STEPS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1430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Builds This — and What's Next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828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Operator — Laura Brody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17720" y="18653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1865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22860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2860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Director (MD/DO)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2322576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39354F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322576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2743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Clinical Director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17720" y="2779776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39354F"/>
          </a:solidFill>
          <a:ln/>
        </p:spPr>
      </p:sp>
      <p:sp>
        <p:nvSpPr>
          <p:cNvPr id="18" name="Text 16"/>
          <p:cNvSpPr/>
          <p:nvPr/>
        </p:nvSpPr>
        <p:spPr>
          <a:xfrm>
            <a:off x="4617720" y="2779776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2004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32004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Aesthetics / Injector (NP/PA)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17720" y="3236976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39354F"/>
          </a:solidFill>
          <a:ln/>
        </p:spPr>
      </p:sp>
      <p:sp>
        <p:nvSpPr>
          <p:cNvPr id="22" name="Text 20"/>
          <p:cNvSpPr/>
          <p:nvPr/>
        </p:nvSpPr>
        <p:spPr>
          <a:xfrm>
            <a:off x="4617720" y="3236976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36576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" y="3657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AI Officer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17720" y="3694176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39354F"/>
          </a:solidFill>
          <a:ln/>
        </p:spPr>
      </p:sp>
      <p:sp>
        <p:nvSpPr>
          <p:cNvPr id="26" name="Text 24"/>
          <p:cNvSpPr/>
          <p:nvPr/>
        </p:nvSpPr>
        <p:spPr>
          <a:xfrm>
            <a:off x="4617720" y="3694176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41148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114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Surgeon Partners (Ortho/Spine)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617720" y="4151376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39354F"/>
          </a:solidFill>
          <a:ln/>
        </p:spPr>
      </p:sp>
      <p:sp>
        <p:nvSpPr>
          <p:cNvPr id="30" name="Text 28"/>
          <p:cNvSpPr/>
          <p:nvPr/>
        </p:nvSpPr>
        <p:spPr>
          <a:xfrm>
            <a:off x="4617720" y="4151376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45720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45720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Anesthesia (MD vs. CRNA)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17720" y="46085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2E2A44"/>
          </a:solidFill>
          <a:ln/>
        </p:spPr>
      </p:sp>
      <p:sp>
        <p:nvSpPr>
          <p:cNvPr id="34" name="Text 32"/>
          <p:cNvSpPr/>
          <p:nvPr/>
        </p:nvSpPr>
        <p:spPr>
          <a:xfrm>
            <a:off x="4617720" y="46085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400800" y="159105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36" name="Text 34"/>
          <p:cNvSpPr/>
          <p:nvPr/>
        </p:nvSpPr>
        <p:spPr>
          <a:xfrm>
            <a:off x="6656832" y="15544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19385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03720" y="19385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raise structure, close commitments.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400800" y="23042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DD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903720" y="23042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Playa Vista Class A lease.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00800" y="26700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903720" y="26700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Phase 1 clinic buildout (Mo 3–6 open).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400800" y="30358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DD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903720" y="30358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AAAHC pre-app + California SURGC.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6400800" y="34015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903720" y="34015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 Aescape, Ammortal, HBOT, lasers.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400800" y="37673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DD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903720" y="37673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clinical + medical directors, injector.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400800" y="41330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903720" y="4133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 OR construction (Mo 16 target).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6400800" y="44988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DD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903720" y="44988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surgeons + execute payer contracts.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548640" y="502920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13110D"/>
          </a:solidFill>
          <a:ln w="19050">
            <a:solidFill>
              <a:srgbClr val="B6C800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822960" y="5212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BUILD THE WESTSIDE'S FIRST INTEGRATED ASC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822960" y="5650992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integrated surgical care and longevity — under one roof, in Playa Vista.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8823960" y="54406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57" name="Text 55"/>
          <p:cNvSpPr/>
          <p:nvPr/>
        </p:nvSpPr>
        <p:spPr>
          <a:xfrm>
            <a:off x="8823960" y="5440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Laura@culvercitysurgical.com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Playa Vista ASC — Investor Pitch</dc:title>
  <dc:subject>PptxGenJS Presentation</dc:subject>
  <dc:creator>Playa Vista ASC &amp; Rejuvenation Clinic</dc:creator>
  <cp:lastModifiedBy>Playa Vista ASC &amp; Rejuvenation Clinic</cp:lastModifiedBy>
  <cp:revision>1</cp:revision>
  <dcterms:created xsi:type="dcterms:W3CDTF">2026-05-31T22:28:15Z</dcterms:created>
  <dcterms:modified xsi:type="dcterms:W3CDTF">2026-05-31T22:28:15Z</dcterms:modified>
</cp:coreProperties>
</file>